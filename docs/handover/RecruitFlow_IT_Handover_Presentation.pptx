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RecruitFlow</a:t>
            </a:r>
          </a:p>
          <a:p>
            <a:pPr algn="l">
              <a:spcAft>
                <a:spcPts val="600"/>
              </a:spcAft>
            </a:pPr>
            <a:r>
              <a:rPr sz="2800" b="0">
                <a:solidFill>
                  <a:srgbClr val="B8D4EB"/>
                </a:solidFill>
                <a:latin typeface="Calibri"/>
              </a:rPr>
              <a:t>System Handover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Prepared for: IT Department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8D4EB"/>
                </a:solidFill>
                <a:latin typeface="Calibri"/>
              </a:rPr>
              <a:t>Saudi German Health  ·  Internal Recruitment Platform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8D4EB"/>
                </a:solidFill>
                <a:latin typeface="Calibri"/>
              </a:rPr>
              <a:t>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Purpose: technical handover for ownership, operations, and support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8D4EB"/>
                </a:solidFill>
                <a:latin typeface="Calibri"/>
              </a:rPr>
              <a:t>Presented by</a:t>
            </a:r>
          </a:p>
          <a:p>
            <a:r>
              <a:rPr sz="2200" b="1">
                <a:solidFill>
                  <a:srgbClr val="FFFFFF"/>
                </a:solidFill>
                <a:latin typeface="Calibri"/>
              </a:rPr>
              <a:t>Mustafa Zainhom</a:t>
            </a:r>
          </a:p>
          <a:p>
            <a:r>
              <a:rPr sz="1500">
                <a:solidFill>
                  <a:srgbClr val="B8D4EB"/>
                </a:solidFill>
                <a:latin typeface="Calibri"/>
              </a:rPr>
              <a:t>HRIS Performance Specialist  ·  Saudi German Health</a:t>
            </a:r>
          </a:p>
        </p:txBody>
      </p:sp>
      <p:pic>
        <p:nvPicPr>
          <p:cNvPr id="8" name="Picture 7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20040"/>
            <a:ext cx="1148033" cy="960120"/>
          </a:xfrm>
          <a:prstGeom prst="rect">
            <a:avLst/>
          </a:prstGeom>
        </p:spPr>
      </p:pic>
      <p:pic>
        <p:nvPicPr>
          <p:cNvPr id="9" name="Picture 8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40680"/>
            <a:ext cx="601351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1. Product overview &amp; business scope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2. Architecture &amp; repository layout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3. Technology stack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4. Data, storage &amp; integrations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5. Security, identity &amp; access control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6. Functional modules (end-to-end hiring lifecycle)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7. Recent delivery (UX density, trust, fit/skills)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8. Environments, deployment &amp; runbooks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9. Quality gates, known deferrals &amp; risks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10. Handover checklist &amp; recommended next steps</a:t>
            </a:r>
          </a:p>
        </p:txBody>
      </p:sp>
      <p:pic>
        <p:nvPicPr>
          <p:cNvPr id="10" name="Picture 9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is RecruitFlow?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Internal recruitment &amp; hiring operations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Enterprise recruitment operations system for Saudi German Health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Covers vacancy request → approval → posting → sourcing → interview → offer → hire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Modular monolith: one monorepo, separately deployable web, API, and worker apps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Business rules enforced server-side; PostgreSQL is system of record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Not a full HCM/ERP replacement — focused recruitment module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371600"/>
            <a:ext cx="4754880" cy="4389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371600"/>
            <a:ext cx="73152" cy="438912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508760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In scope for IT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434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Application hosting &amp; runtime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Database &amp; migrations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Secrets / environment config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Access control &amp; audit posture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Backups, monitoring, support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CI/CD and release process</a:t>
            </a:r>
          </a:p>
        </p:txBody>
      </p:sp>
      <p:pic>
        <p:nvPicPr>
          <p:cNvPr id="14" name="Picture 13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Modular monolith with clear service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651760" cy="32918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73152" cy="32918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apps/web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React + Vite UI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Role-gated routes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Design-system 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32918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371600"/>
            <a:ext cx="73152" cy="32918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apps/api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NestJS REST API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Auth, RBAC, workflows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Prisma repositories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2651760" cy="32918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73152" cy="32918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apps/worker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2880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BullMQ jobs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Email / async work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No SoR for business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371600"/>
            <a:ext cx="2651760" cy="32918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1371600"/>
            <a:ext cx="73152" cy="32918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Shared pkgs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331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contracts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validation (Zod)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config + design-system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37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Data plane: PostgreSQL (authoritative)  ·  Redis/BullMQ (queues)  ·  S3-compatible / volume storage for documents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Dependency rule: API owns authorization &amp; workflow rules; UI never becomes source of truth for permissions</a:t>
            </a:r>
          </a:p>
        </p:txBody>
      </p:sp>
      <p:pic>
        <p:nvPicPr>
          <p:cNvPr id="26" name="Picture 25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Current production-oriented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389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438912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React 19 + TypeScript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Vite 8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React Router 7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Tailwind CSS 4 + design tokens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Vitest + Testing Library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i18next (English-only scaffold)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4389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73152" cy="438912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Backend &amp;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3736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NestJS 11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Prisma + PostgreSQL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Passport JWT (access + refresh)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Zod shared validation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BullMQ worker process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Affinda resume parsing integration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438912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73152" cy="438912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2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Tooling &amp;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pnpm workspaces (Node 24 / pnpm 11)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Docker multi-stage (api/web/worker)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compose.production.yml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GitHub + GitLab remotes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ESLint + typecheck + token gate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Browser/Python test scripts</a:t>
            </a:r>
          </a:p>
        </p:txBody>
      </p:sp>
      <p:pic>
        <p:nvPicPr>
          <p:cNvPr id="21" name="Picture 20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Repository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Single monorepo — independently buildable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apps/web          — React + Vite SPA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apps/api          — NestJS modular API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apps/worker       — Background / scheduled jobs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packages/contracts, validation, config, design-system — shared libraries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database/         — Prisma schema, migrations, seeds, DB tests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docs/             — Architecture, setup, design system, operations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deploy/           — Runtime helpers, nginx template, Hostinger/Vercel notes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Remotes: GitHub origin (Recruitment-System) and GitLab mirror</a:t>
            </a:r>
          </a:p>
        </p:txBody>
      </p:sp>
      <p:pic>
        <p:nvPicPr>
          <p:cNvPr id="10" name="Picture 9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Security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IT-critical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457200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Identity &amp; 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166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JWT access + refresh cookies (httpOnly, SameSite)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Server-side permission checks on every sensitive route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RBAC roles (recruiter, hiring manager, approver, HR admin, interviewer, admin)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Frontend PermissionGate mirrors — API remains authoritative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Audit log for sensitive actions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73152" cy="457200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Hardening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166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Security headers (CSP, HSTS in prod, nosniff, frame options)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CORS locked to configured WEB_ORIGIN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Normalized safe API error envelopes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Fail-fast environment validation on startup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Design-token / lint / typecheck quality gates</a:t>
            </a:r>
          </a:p>
        </p:txBody>
      </p:sp>
      <p:pic>
        <p:nvPicPr>
          <p:cNvPr id="17" name="Picture 16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Functional Modules — Hiring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What the business runs day-to-day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19456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1.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874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Vacancy requests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Approval inbox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Headcount / org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79" y="1371600"/>
            <a:ext cx="219456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79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5087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2. Attract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59" y="1828800"/>
            <a:ext cx="1874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Vacancies / JD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Public careers pages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CV intake &amp; import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9456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15087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3. Select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828800"/>
            <a:ext cx="1874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Candidates DB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Smart sourcing &amp; fit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Compare &amp; applications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371600"/>
            <a:ext cx="219456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15087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4. Assess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1828800"/>
            <a:ext cx="1874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Interviews / calendar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Scorecards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Tasks &amp; SLA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371600"/>
            <a:ext cx="219456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150876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5. Hire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828800"/>
            <a:ext cx="1874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Offers &amp; approvals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Final hiring approval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Hiring cases / joining</a:t>
            </a:r>
          </a:p>
        </p:txBody>
      </p:sp>
      <p:pic>
        <p:nvPicPr>
          <p:cNvPr id="29" name="Picture 28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Operational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Primary screens IT should know for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Dashboards — employee / manager / recruitment command views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Vacancy requests &amp; vacancies workspace (including JD import)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Candidates, CV Bank, Smart Sourcing &amp; Match Engine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Applications pipeline (list + kanban) with fit scorecards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Interviews calendar &amp; detail; candidate self-schedule links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Offers, offer approval inbox, final hiring approval inbox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Hiring / joining cases; reports &amp; audit log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Admin: users/roles, master data, settings, bulk import</a:t>
            </a:r>
          </a:p>
        </p:txBody>
      </p:sp>
      <p:pic>
        <p:nvPicPr>
          <p:cNvPr id="10" name="Picture 9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Recent Delivery (Sep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Merged to main — relevant for support &amp;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457200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UX density &amp; trust (Phases F–I)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166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Denser shell (brand/header/user chip)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Unified page titles &amp; compact KPI cards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Responsive Wave-1 padding / actions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Confirm + toast trust on Offer/Final inboxes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Design-token burn-down under baseline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English-only i18n scaffold (Arabic removed per policy)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73152" cy="457200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Fit &amp; skills bugfix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5166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Compare skills: matched-first tags + exact +N overflow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Smart Sourcing: same overflow pattern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Compare no longer hardcodes 0% as Good Match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Real fit score when a vacancy is selected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Without vacancy: Select a position (not fake 0%)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Branch grok/ui-density-responsive merged by business owner</a:t>
            </a:r>
          </a:p>
        </p:txBody>
      </p:sp>
      <p:pic>
        <p:nvPicPr>
          <p:cNvPr id="17" name="Picture 16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Environments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How the system is packaged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Docker multi-stage build targets: api, web, worker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compose.production.yml wires api + web + worker + documents volume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Web container proxies API via API_UPSTREAM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Env via RECRUITFLOW_ENV_FILE / Dokploy Environment tab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deploy/ contains nginx template, Hostinger–Vercel notes, runtime validators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Never commit .env — use .env.example as contract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371600"/>
            <a:ext cx="411480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50876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Core runtime 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1828800"/>
            <a:ext cx="3794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Node 24 + pnpm 11 (local)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PostgreSQL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Redis (queues)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Document storage path/volume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Affinda API key (CV parse)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WEB_ORIGIN + secrets</a:t>
            </a:r>
          </a:p>
        </p:txBody>
      </p:sp>
      <p:pic>
        <p:nvPicPr>
          <p:cNvPr id="14" name="Picture 13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Essential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Day-1 operations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Local setup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install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db:generate &amp;&amp; pnpm db:migrate:deploy &amp;&amp; pnpm db:seed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dev:api   |   pnpm dev:web   |   pnpm dev:worker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Quality gates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typecheck   |   pnpm lint   |   pnpm test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check:design-tokens   |   pnpm test:security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Database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pnpm db:migrate:status   |   pnpm db:migrate:deploy</a:t>
            </a:r>
          </a:p>
        </p:txBody>
      </p:sp>
      <p:pic>
        <p:nvPicPr>
          <p:cNvPr id="10" name="Picture 9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Known Deferrals &amp;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Be explicit with IT — avoid false expectations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SSO / SAML / OAuth — not implemented (username/password JWT only)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Autonomous AI hiring decisions — not in product; fit scoring is assistive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Full production email SMTP / WhatsApp / SMS — limited / template-oriented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Payroll / full HCM replacement — out of scope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Legacy palette debt still being burned down (gate prevents growth)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Document/CV binary storage hardening continues via workers &amp; storage path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Support tip: Compare fit requires a selected vacancy to show real %</a:t>
            </a:r>
          </a:p>
        </p:txBody>
      </p:sp>
      <p:pic>
        <p:nvPicPr>
          <p:cNvPr id="10" name="Picture 9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IT Handover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Recommended acceptance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Repo access (GitHub/GitLab) + branch protection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Production/staging env inventory documented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Secrets vault ownership transferred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DB backup &amp; restore drill scheduled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Docker/compose deploy verified by IT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TLS / domain / reverse proxy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Admin user break-glass process defined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Monitoring/alerting hooks (API health, worker)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Runbook links in docs/operations reviewed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Support triage matrix (app vs infra)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Release cadence &amp; rollback owner named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Security review of CORS/JWT cookies done</a:t>
            </a:r>
          </a:p>
        </p:txBody>
      </p:sp>
      <p:pic>
        <p:nvPicPr>
          <p:cNvPr id="11" name="Picture 10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D4EB"/>
                </a:solidFill>
                <a:latin typeface="Calibri"/>
              </a:rPr>
              <a:t>30 / 60 / 90 day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RecruitFlow  |  IT Department Handover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65760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0–30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IT shadow deploy + backup restore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Access &amp; secrets transfer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Support mailbox / escalation path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Smoke test critical hiring paths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30–60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Monitoring dashboards live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SSO discovery workshop (if required)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Perf &amp; backup SLO agreement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Training for L1/L2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657600" cy="4206240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73152" cy="4206240"/>
          </a:xfrm>
          <a:prstGeom prst="rect">
            <a:avLst/>
          </a:prstGeom>
          <a:solidFill>
            <a:srgbClr val="008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087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60–90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Hardening backlog prioritization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DR exercise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Capacity review (DB/Redis/storage)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Release governance finalized</a:t>
            </a:r>
          </a:p>
        </p:txBody>
      </p:sp>
      <p:pic>
        <p:nvPicPr>
          <p:cNvPr id="21" name="Picture 20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765356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B8D4EB"/>
                </a:solidFill>
                <a:latin typeface="Calibri"/>
              </a:rPr>
              <a:t>Questions from IT Department welcome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8D4EB"/>
                </a:solidFill>
                <a:latin typeface="Calibri"/>
              </a:rPr>
              <a:t>RecruitFlow — ready for operational ownership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Artifacts: docs/architecture · docs/operations · deploy/ · RELEASE_NOTES.md · this deck in docs/handover/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Mustafa Zainhom  ·  HRIS Performance Specialist</a:t>
            </a:r>
          </a:p>
        </p:txBody>
      </p:sp>
      <p:pic>
        <p:nvPicPr>
          <p:cNvPr id="7" name="Picture 6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65760"/>
            <a:ext cx="1257370" cy="1051560"/>
          </a:xfrm>
          <a:prstGeom prst="rect">
            <a:avLst/>
          </a:prstGeom>
        </p:spPr>
      </p:pic>
      <p:pic>
        <p:nvPicPr>
          <p:cNvPr id="8" name="Picture 7" descr="sgh-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40680"/>
            <a:ext cx="601351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